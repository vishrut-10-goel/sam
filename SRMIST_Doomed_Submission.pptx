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 spc="0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 spc="0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 spc="0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 spc="0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 spc="0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 spc="0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 spc="0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 spc="0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 spc="0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8" Type="http://schemas.openxmlformats.org/officeDocument/2006/relationships/tableStyles" Target="tableStyles.xml"/><Relationship Id="rId17" Type="http://schemas.openxmlformats.org/officeDocument/2006/relationships/viewProps" Target="viewProps.xml"/><Relationship Id="rId16" Type="http://schemas.openxmlformats.org/officeDocument/2006/relationships/presProps" Target="presProps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/>
        </p:txBody>
      </p:sp>
      <p:sp>
        <p:nvSpPr>
          <p:cNvPr id="5" name="Google Shape;5;n"/>
          <p:cNvSpPr/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</a:fld>
            <a:endParaRPr sz="12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 spc="0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 spc="0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 spc="0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 spc="0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 spc="0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 spc="0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 spc="0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 spc="0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 spc="0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:notes"/>
          <p:cNvSpPr/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7" name="Google Shape;87;p1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88" name="Google Shape;88;p1:notes"/>
          <p:cNvSpPr txBox="1"/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99" name="Google Shape;99;p2:notes"/>
          <p:cNvSpPr/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05" name="Google Shape;105;p3:notes"/>
          <p:cNvSpPr/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11" name="Google Shape;111;p4:notes"/>
          <p:cNvSpPr/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17" name="Google Shape;117;p5:notes"/>
          <p:cNvSpPr/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6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23" name="Google Shape;123;p6:notes"/>
          <p:cNvSpPr/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7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29" name="Google Shape;129;p7:notes"/>
          <p:cNvSpPr/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8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35" name="Google Shape;135;p8:notes"/>
          <p:cNvSpPr/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9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41" name="Google Shape;141;p9:notes"/>
          <p:cNvSpPr/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10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47" name="Google Shape;147;p10:notes"/>
          <p:cNvSpPr/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11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53" name="Google Shape;153;p11:notes"/>
          <p:cNvSpPr/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2:notes"/>
          <p:cNvSpPr/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9" name="Google Shape;159;p12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Closing slide. Add the Google Form URL and a contact email before sharing. Edition 2 organising team for reference: Language AI - Sourabh Tiwari, Gaurav, Sanjeeth Pothireddy, Gorang Maniar; PRISM - Binny Lakra, Prakhar Chandrakar, Vishu Kumar; Kick-off and mentors - Giridhar Jakki, Deepraj Prabhakar Patkar (Language AI), Srimanu Prasad Nagaraju, Ashish Kumar (Tech Strategy).</a:t>
            </a:r>
            <a:endParaRPr lang="en-US"/>
          </a:p>
        </p:txBody>
      </p:sp>
      <p:sp>
        <p:nvSpPr>
          <p:cNvPr id="160" name="Google Shape;160;p12:notes"/>
          <p:cNvSpPr txBox="1"/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matchingName="Title and Content">
  <p:cSld name="OBJECT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1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15"/>
          <p:cNvSpPr txBox="1"/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9" name="Google Shape;19;p15"/>
          <p:cNvSpPr txBox="1"/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15"/>
          <p:cNvSpPr txBox="1"/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15"/>
          <p:cNvSpPr txBox="1"/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matchingName="Title Slide">
  <p:cSld name="TITLE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16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 panose="020F0502020204030204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" name="Google Shape;24;p16"/>
          <p:cNvSpPr txBox="1"/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25" name="Google Shape;25;p16"/>
          <p:cNvSpPr txBox="1"/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16"/>
          <p:cNvSpPr txBox="1"/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16"/>
          <p:cNvSpPr txBox="1"/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matchingName="Section Header">
  <p:cSld name="SECTION_HEADER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17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 panose="020F0502020204030204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" name="Google Shape;30;p17"/>
          <p:cNvSpPr txBox="1"/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1" name="Google Shape;31;p17"/>
          <p:cNvSpPr txBox="1"/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17"/>
          <p:cNvSpPr txBox="1"/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17"/>
          <p:cNvSpPr txBox="1"/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matchingName="Two Content">
  <p:cSld name="TWO_OBJECTS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18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18"/>
          <p:cNvSpPr txBox="1"/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18"/>
          <p:cNvSpPr txBox="1"/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18"/>
          <p:cNvSpPr txBox="1"/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18"/>
          <p:cNvSpPr txBox="1"/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18"/>
          <p:cNvSpPr txBox="1"/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matchingName="Comparison">
  <p:cSld name="TWO_OBJECTS_WITH_TEXT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9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19"/>
          <p:cNvSpPr txBox="1"/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/>
        </p:txBody>
      </p:sp>
      <p:sp>
        <p:nvSpPr>
          <p:cNvPr id="44" name="Google Shape;44;p19"/>
          <p:cNvSpPr txBox="1"/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5" name="Google Shape;45;p19"/>
          <p:cNvSpPr txBox="1"/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/>
        </p:txBody>
      </p:sp>
      <p:sp>
        <p:nvSpPr>
          <p:cNvPr id="46" name="Google Shape;46;p19"/>
          <p:cNvSpPr txBox="1"/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7" name="Google Shape;47;p19"/>
          <p:cNvSpPr txBox="1"/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19"/>
          <p:cNvSpPr txBox="1"/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19"/>
          <p:cNvSpPr txBox="1"/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matchingName="Title Only">
  <p:cSld name="TITLE_ONLY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2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20"/>
          <p:cNvSpPr txBox="1"/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20"/>
          <p:cNvSpPr txBox="1"/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20"/>
          <p:cNvSpPr txBox="1"/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matchingName="Blank">
  <p:cSld name="BLANK"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1"/>
          <p:cNvSpPr txBox="1"/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21"/>
          <p:cNvSpPr txBox="1"/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21"/>
          <p:cNvSpPr txBox="1"/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matchingName="Content with Caption">
  <p:cSld name="OBJECT_WITH_CAPTION_TEXT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22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 panose="020F0502020204030204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22"/>
          <p:cNvSpPr txBox="1"/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62" name="Google Shape;62;p22"/>
          <p:cNvSpPr txBox="1"/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3" name="Google Shape;63;p22"/>
          <p:cNvSpPr txBox="1"/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22"/>
          <p:cNvSpPr txBox="1"/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22"/>
          <p:cNvSpPr txBox="1"/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matchingName="Picture with Caption">
  <p:cSld name="PICTURE_WITH_CAPTION_TEXT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23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 panose="020F0502020204030204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23"/>
          <p:cNvSpPr/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9" name="Google Shape;69;p23"/>
          <p:cNvSpPr txBox="1"/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70" name="Google Shape;70;p23"/>
          <p:cNvSpPr txBox="1"/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" name="Google Shape;71;p23"/>
          <p:cNvSpPr txBox="1"/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23"/>
          <p:cNvSpPr txBox="1"/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matchingName="Title and Vertical Text">
  <p:cSld name="VERTICAL_TEXT"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24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24"/>
          <p:cNvSpPr txBox="1"/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6" name="Google Shape;76;p24"/>
          <p:cNvSpPr txBox="1"/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p24"/>
          <p:cNvSpPr txBox="1"/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24"/>
          <p:cNvSpPr txBox="1"/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matchingName="Vertical Title and Text">
  <p:cSld name="VERTICAL_TITLE_AND_VERTICAL_TEXT"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25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1" name="Google Shape;81;p25"/>
          <p:cNvSpPr txBox="1"/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2" name="Google Shape;82;p25"/>
          <p:cNvSpPr txBox="1"/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25"/>
          <p:cNvSpPr txBox="1"/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4" name="Google Shape;84;p25"/>
          <p:cNvSpPr txBox="1"/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 panose="020F0502020204030204"/>
              <a:buNone/>
              <a:defRPr sz="44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3"/>
          <p:cNvSpPr txBox="1"/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Char char="•"/>
              <a:defRPr sz="2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 panose="020B0604020202020204"/>
              <a:buChar char="•"/>
              <a:defRPr sz="24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20204"/>
              <a:buChar char="•"/>
              <a:defRPr sz="20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•"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•"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•"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•"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•"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•"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/>
        </p:txBody>
      </p:sp>
      <p:sp>
        <p:nvSpPr>
          <p:cNvPr id="12" name="Google Shape;12;p13"/>
          <p:cNvSpPr txBox="1"/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/>
        </p:txBody>
      </p:sp>
      <p:sp>
        <p:nvSpPr>
          <p:cNvPr id="13" name="Google Shape;13;p13"/>
          <p:cNvSpPr txBox="1"/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/>
        </p:txBody>
      </p:sp>
      <p:sp>
        <p:nvSpPr>
          <p:cNvPr id="14" name="Google Shape;14;p13"/>
          <p:cNvSpPr txBox="1"/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"/>
          <p:cNvSpPr/>
          <p:nvPr/>
        </p:nvSpPr>
        <p:spPr>
          <a:xfrm>
            <a:off x="777240" y="676656"/>
            <a:ext cx="242316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 cap="flat" cmpd="sng">
            <a:solidFill>
              <a:srgbClr val="D9D3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91" name="Google Shape;91;p1"/>
          <p:cNvSpPr txBox="1"/>
          <p:nvPr/>
        </p:nvSpPr>
        <p:spPr>
          <a:xfrm>
            <a:off x="777240" y="676656"/>
            <a:ext cx="242316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D28D9"/>
              </a:buClr>
              <a:buSzPts val="1100"/>
              <a:buFont typeface="Arial" panose="020B0604020202020204"/>
              <a:buNone/>
            </a:pPr>
            <a:r>
              <a:rPr lang="en-US" sz="1100" b="1" i="0" u="none" strike="noStrike" cap="none">
                <a:solidFill>
                  <a:srgbClr val="6D28D9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SAMSUNG PRISM</a:t>
            </a:r>
            <a:endParaRPr sz="11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2" name="Google Shape;92;p1"/>
          <p:cNvSpPr txBox="1"/>
          <p:nvPr/>
        </p:nvSpPr>
        <p:spPr>
          <a:xfrm>
            <a:off x="777240" y="1207008"/>
            <a:ext cx="6126480" cy="7498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4142B"/>
              </a:buClr>
              <a:buSzPts val="5000"/>
              <a:buFont typeface="Arial" panose="020B0604020202020204"/>
              <a:buNone/>
            </a:pPr>
            <a:r>
              <a:rPr lang="en-US" sz="5000" b="1" i="0" u="none" strike="noStrike" cap="none">
                <a:solidFill>
                  <a:srgbClr val="14142B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Generative AI</a:t>
            </a:r>
            <a:endParaRPr sz="50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3" name="Google Shape;93;p1"/>
          <p:cNvSpPr txBox="1"/>
          <p:nvPr/>
        </p:nvSpPr>
        <p:spPr>
          <a:xfrm>
            <a:off x="777240" y="1901952"/>
            <a:ext cx="6126480" cy="7498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D28D9"/>
              </a:buClr>
              <a:buSzPts val="5000"/>
              <a:buFont typeface="Arial" panose="020B0604020202020204"/>
              <a:buNone/>
            </a:pPr>
            <a:r>
              <a:rPr lang="en-US" sz="5000" b="1" i="0" u="none" strike="noStrike" cap="none">
                <a:solidFill>
                  <a:srgbClr val="6D28D9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Hackathon</a:t>
            </a:r>
            <a:endParaRPr sz="50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4" name="Google Shape;94;p1"/>
          <p:cNvSpPr txBox="1"/>
          <p:nvPr/>
        </p:nvSpPr>
        <p:spPr>
          <a:xfrm>
            <a:off x="777240" y="2724912"/>
            <a:ext cx="612648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4142B"/>
              </a:buClr>
              <a:buSzPts val="2500"/>
              <a:buFont typeface="Arial" panose="020B0604020202020204"/>
              <a:buNone/>
            </a:pPr>
            <a:r>
              <a:rPr lang="en-US" sz="2500" b="1" i="0" u="none" strike="noStrike" cap="none">
                <a:solidFill>
                  <a:srgbClr val="14142B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3rd Edition</a:t>
            </a:r>
            <a:r>
              <a:rPr lang="en-US" sz="2000" b="0" i="0" u="none" strike="noStrike" cap="none">
                <a:solidFill>
                  <a:srgbClr val="63637E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   2026 – 27</a:t>
            </a:r>
            <a:endParaRPr sz="25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5" name="Google Shape;95;p1"/>
          <p:cNvSpPr txBox="1"/>
          <p:nvPr/>
        </p:nvSpPr>
        <p:spPr>
          <a:xfrm>
            <a:off x="777240" y="3310255"/>
            <a:ext cx="6381115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228600" marR="0" indent="-19050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Arial" panose="020B0604020202020204" pitchFamily="34" charset="0"/>
              <a:buChar char="•"/>
            </a:pPr>
            <a:r>
              <a:rPr lang="en-US" sz="1600" b="0" i="0" u="none" strike="noStrike" cap="none">
                <a:solidFill>
                  <a:srgbClr val="63637E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Theme ID - 1 (Agentic Code Intelligence)</a:t>
            </a:r>
            <a:endParaRPr lang="en-US" sz="1600" b="0" i="0" u="none" strike="noStrike" cap="none">
              <a:solidFill>
                <a:srgbClr val="63637E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228600" marR="0" indent="-19050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Arial" panose="020B0604020202020204" pitchFamily="34" charset="0"/>
              <a:buChar char="•"/>
            </a:pPr>
            <a:r>
              <a:rPr lang="en-US" sz="1600" b="0" i="0" u="none" strike="noStrike" cap="none">
                <a:solidFill>
                  <a:srgbClr val="63637E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Team Name -</a:t>
            </a:r>
            <a:r>
              <a:rPr lang="en-IN" altLang="en-US" sz="1600" b="0" i="0" u="none" strike="noStrike" cap="none">
                <a:solidFill>
                  <a:srgbClr val="63637E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 Team</a:t>
            </a:r>
            <a:r>
              <a:rPr lang="en-US" sz="1600" b="0" i="0" u="none" strike="noStrike" cap="none">
                <a:solidFill>
                  <a:srgbClr val="63637E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 Doomed</a:t>
            </a:r>
            <a:endParaRPr lang="en-US" sz="1600" b="0" i="0" u="none" strike="noStrike" cap="none">
              <a:solidFill>
                <a:srgbClr val="63637E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228600" marR="0" indent="-19050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Arial" panose="020B0604020202020204" pitchFamily="34" charset="0"/>
              <a:buChar char="•"/>
            </a:pPr>
            <a:r>
              <a:rPr lang="en-US" sz="1600" b="0" i="0" u="none" strike="noStrike" cap="none">
                <a:solidFill>
                  <a:srgbClr val="63637E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College Name - SRMIST Kattankulathur</a:t>
            </a:r>
            <a:endParaRPr lang="en-US" sz="1600" b="0" i="0" u="none" strike="noStrike" cap="none">
              <a:solidFill>
                <a:srgbClr val="63637E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228600" marR="0" indent="-19050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Arial" panose="020B0604020202020204" pitchFamily="34" charset="0"/>
              <a:buChar char="•"/>
            </a:pPr>
            <a:r>
              <a:rPr lang="en-US" sz="1600" b="0" i="0" u="none" strike="noStrike" cap="none">
                <a:solidFill>
                  <a:srgbClr val="63637E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Member Name &amp; Email 1- Vishrut Goel, </a:t>
            </a:r>
            <a:r>
              <a:rPr lang="en-IN" altLang="en-US" sz="1600" b="0" i="0" u="none" strike="noStrike" cap="none">
                <a:solidFill>
                  <a:srgbClr val="63637E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vg9532@srmist.edu.in</a:t>
            </a:r>
            <a:endParaRPr lang="en-US" sz="1600" b="0" i="0" u="none" strike="noStrike" cap="none">
              <a:solidFill>
                <a:srgbClr val="63637E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228600" marR="0" indent="-19050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Arial" panose="020B0604020202020204" pitchFamily="34" charset="0"/>
              <a:buChar char="•"/>
            </a:pPr>
            <a:r>
              <a:rPr lang="en-US" sz="1600" b="0" i="0" u="none" strike="noStrike" cap="none">
                <a:solidFill>
                  <a:srgbClr val="63637E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Member Name &amp; Email 2- Mansi Dabbiru, m</a:t>
            </a:r>
            <a:r>
              <a:rPr lang="en-IN" altLang="en-US" sz="1600" b="0" i="0" u="none" strike="noStrike" cap="none">
                <a:solidFill>
                  <a:srgbClr val="63637E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d3808</a:t>
            </a:r>
            <a:r>
              <a:rPr lang="en-IN" altLang="en-US" sz="1600">
                <a:solidFill>
                  <a:srgbClr val="63637E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@srmist.edu.in</a:t>
            </a:r>
            <a:endParaRPr lang="en-US" sz="1600" b="0" i="0" u="none" strike="noStrike" cap="none">
              <a:solidFill>
                <a:srgbClr val="63637E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228600" marR="0" indent="-19050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Arial" panose="020B0604020202020204" pitchFamily="34" charset="0"/>
              <a:buChar char="•"/>
            </a:pPr>
            <a:r>
              <a:rPr lang="en-US" sz="1600" b="0" i="0" u="none" strike="noStrike" cap="none">
                <a:solidFill>
                  <a:srgbClr val="63637E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Submission Github link - https://github.com/Vishrut-10-Goel/Sam</a:t>
            </a:r>
            <a:endParaRPr lang="en-US" sz="1600" b="0" i="0" u="none" strike="noStrike" cap="none">
              <a:solidFill>
                <a:srgbClr val="63637E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pic>
        <p:nvPicPr>
          <p:cNvPr id="96" name="Google Shape;96;p1" descr="hero_network.png"/>
          <p:cNvPicPr preferRelativeResize="0"/>
          <p:nvPr/>
        </p:nvPicPr>
        <p:blipFill rotWithShape="1">
          <a:blip r:embed="rId1"/>
          <a:srcRect/>
          <a:stretch>
            <a:fillRect/>
          </a:stretch>
        </p:blipFill>
        <p:spPr>
          <a:xfrm>
            <a:off x="7059168" y="1051560"/>
            <a:ext cx="4572000" cy="4572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 panose="020F0502020204030204"/>
              <a:buNone/>
            </a:pPr>
            <a:r>
              <a:rPr lang="en-US" b="1">
                <a:solidFill>
                  <a:srgbClr val="704EA6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Theme</a:t>
            </a:r>
            <a:endParaRPr lang="en-US" b="1">
              <a:solidFill>
                <a:srgbClr val="704EA6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02" name="Google Shape;102;p2"/>
          <p:cNvSpPr txBox="1"/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indent="-1905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 pitchFamily="34" charset="0"/>
              <a:buChar char="•"/>
            </a:pPr>
            <a:r>
              <a:rPr sz="1550"/>
              <a:t>Theme 1: Agentic Code Intelligence.</a:t>
            </a:r>
            <a:endParaRPr sz="1550"/>
          </a:p>
          <a:p>
            <a:pPr marL="228600" indent="-1905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 pitchFamily="34" charset="0"/>
              <a:buChar char="•"/>
            </a:pPr>
            <a:r>
              <a:rPr sz="1550"/>
              <a:t>Given a library of code and a natural-language query, rank the code snippets by relevance.</a:t>
            </a:r>
            <a:endParaRPr sz="1550"/>
          </a:p>
          <a:p>
            <a:pPr marL="228600" indent="-1905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 pitchFamily="34" charset="0"/>
              <a:buChar char="•"/>
            </a:pPr>
            <a:r>
              <a:rPr sz="1550"/>
              <a:t>Retrieval only. No answer generation, no explanation of results.</a:t>
            </a:r>
            <a:endParaRPr sz="1550"/>
          </a:p>
          <a:p>
            <a:pPr marL="228600" indent="-1905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 pitchFamily="34" charset="0"/>
              <a:buChar char="•"/>
            </a:pPr>
            <a:r>
              <a:rPr sz="1550"/>
              <a:t>Thousands of snippets, and they keep getting longer. Too much for an LLM context window, and retrieval has to be faster than generation.</a:t>
            </a:r>
            <a:endParaRPr sz="1550"/>
          </a:p>
          <a:p>
            <a:pPr marL="228600" indent="-1905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 pitchFamily="34" charset="0"/>
              <a:buChar char="•"/>
            </a:pPr>
            <a:r>
              <a:rPr sz="1550"/>
              <a:t>Must run on CPU, with minimal GPU use.</a:t>
            </a:r>
            <a:endParaRPr sz="1550"/>
          </a:p>
          <a:p>
            <a:pPr marL="228600" indent="-1905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 pitchFamily="34" charset="0"/>
              <a:buChar char="•"/>
            </a:pPr>
            <a:r>
              <a:rPr sz="1550"/>
              <a:t>Three goals:</a:t>
            </a:r>
            <a:endParaRPr sz="1550"/>
          </a:p>
          <a:p>
            <a:pPr marL="457200" lvl="1" indent="-1905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 pitchFamily="34" charset="0"/>
              <a:buChar char="–"/>
            </a:pPr>
            <a:r>
              <a:rPr sz="1400"/>
              <a:t>P0: retrieval accuracy, scored on CoIR AppsRetrieval (NDCG@10, MRR)</a:t>
            </a:r>
            <a:endParaRPr sz="1400"/>
          </a:p>
          <a:p>
            <a:pPr marL="457200" lvl="1" indent="-1905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 pitchFamily="34" charset="0"/>
              <a:buChar char="–"/>
            </a:pPr>
            <a:r>
              <a:rPr sz="1400"/>
              <a:t>P1: retrieval across versions. Rebuild indexes and caches for any change, in reasonable time</a:t>
            </a:r>
            <a:endParaRPr sz="1400"/>
          </a:p>
          <a:p>
            <a:pPr marL="457200" lvl="1" indent="-1905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 pitchFamily="34" charset="0"/>
              <a:buChar char="–"/>
            </a:pPr>
            <a:r>
              <a:rPr sz="1400"/>
              <a:t>Bonus: evolutionary retrieval. Search every version at once, where near-identical snippets are hard to rank</a:t>
            </a:r>
            <a:endParaRPr sz="14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 panose="020F0502020204030204"/>
              <a:buNone/>
            </a:pPr>
            <a:r>
              <a:rPr lang="en-US" b="1">
                <a:solidFill>
                  <a:srgbClr val="704EA6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Existing Solutions &amp; Gaps</a:t>
            </a:r>
            <a:endParaRPr lang="en-US" b="1">
              <a:solidFill>
                <a:srgbClr val="704EA6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08" name="Google Shape;108;p3"/>
          <p:cNvSpPr txBox="1"/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indent="-190500" algn="l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 pitchFamily="34" charset="0"/>
              <a:buChar char="•"/>
            </a:pPr>
            <a:r>
              <a:rPr sz="1600">
                <a:sym typeface="+mn-ea"/>
              </a:rPr>
              <a:t> IDE and </a:t>
            </a:r>
            <a:r>
              <a:rPr sz="1600"/>
              <a:t>grep</a:t>
            </a:r>
            <a:r>
              <a:rPr lang="en-IN" sz="1600"/>
              <a:t> s</a:t>
            </a:r>
            <a:r>
              <a:rPr sz="1600"/>
              <a:t>earch match letters, not meaning. Search "send email" and code called dispatchNotification is invisible.</a:t>
            </a:r>
            <a:endParaRPr sz="1600"/>
          </a:p>
          <a:p>
            <a:pPr marL="228600" indent="-190500" algn="l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 pitchFamily="34" charset="0"/>
              <a:buChar char="•"/>
            </a:pPr>
            <a:r>
              <a:rPr sz="1600"/>
              <a:t>Pasting the codebase into an LLM: it does not fit in any context window, and LLMs are slow on long text. Retrieval is meant to be the fast first stage.</a:t>
            </a:r>
            <a:endParaRPr sz="1600"/>
          </a:p>
          <a:p>
            <a:pPr marL="228600" indent="-190500" algn="l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 pitchFamily="34" charset="0"/>
              <a:buChar char="•"/>
            </a:pPr>
            <a:r>
              <a:rPr sz="1600"/>
              <a:t>Generic sentence embeddings are weak on code. We measured all-MiniLM-L6-v2 at NDCG@10 0.066, where the right answer usually was not in the top ten.</a:t>
            </a:r>
            <a:endParaRPr sz="1600"/>
          </a:p>
          <a:p>
            <a:pPr marL="228600" indent="-190500" algn="l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 pitchFamily="34" charset="0"/>
              <a:buChar char="•"/>
            </a:pPr>
            <a:r>
              <a:rPr sz="1600"/>
              <a:t>Static indexes go stale. A full rebuild of a 654-file repo takes 43 minutes, and redoing that for three edited files is wasted work.</a:t>
            </a:r>
            <a:endParaRPr sz="1600"/>
          </a:p>
          <a:p>
            <a:pPr marL="228600" indent="-190500" algn="l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 pitchFamily="34" charset="0"/>
              <a:buChar char="•"/>
            </a:pPr>
            <a:r>
              <a:rPr sz="1600"/>
              <a:t>Nothing searches history. "Which release introduced this?" has no answer.</a:t>
            </a:r>
            <a:endParaRPr sz="1600"/>
          </a:p>
          <a:p>
            <a:pPr marL="228600" indent="-190500" algn="l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 pitchFamily="34" charset="0"/>
              <a:buChar char="•"/>
            </a:pPr>
            <a:r>
              <a:rPr sz="1600"/>
              <a:t>A stale index fails silently and returns line numbers that have since moved.</a:t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4"/>
          <p:cNvSpPr txBox="1"/>
          <p:nvPr>
            <p:ph type="title"/>
          </p:nvPr>
        </p:nvSpPr>
        <p:spPr>
          <a:xfrm>
            <a:off x="909917" y="266513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 panose="020F0502020204030204"/>
              <a:buNone/>
            </a:pPr>
            <a:r>
              <a:rPr lang="en-US" b="1">
                <a:solidFill>
                  <a:srgbClr val="704EA6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Our Solutions &amp; Architecture Diagram</a:t>
            </a:r>
            <a:endParaRPr lang="en-US" b="1">
              <a:solidFill>
                <a:srgbClr val="704EA6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14" name="Google Shape;114;p4"/>
          <p:cNvSpPr txBox="1"/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indent="-190500" algn="l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 pitchFamily="34" charset="0"/>
              <a:buChar char="•"/>
            </a:pPr>
            <a:r>
              <a:rPr sz="1700"/>
              <a:t>Lodestone. Two stages: indexing is slow and runs once, querying is milliseconds and runs constantly.</a:t>
            </a:r>
            <a:endParaRPr sz="1700"/>
          </a:p>
        </p:txBody>
      </p:sp>
      <p:pic>
        <p:nvPicPr>
          <p:cNvPr id="115" name="Picture 114" descr="architectur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168525"/>
            <a:ext cx="11430000" cy="437497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 panose="020F0502020204030204"/>
              <a:buNone/>
            </a:pPr>
            <a:r>
              <a:rPr lang="en-US" b="1">
                <a:solidFill>
                  <a:srgbClr val="704EA6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Demo &amp; Product Walkthrough</a:t>
            </a:r>
            <a:endParaRPr lang="en-US" b="1">
              <a:solidFill>
                <a:srgbClr val="704EA6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20" name="Google Shape;120;p5"/>
          <p:cNvSpPr txBox="1"/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indent="-190500" algn="l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 pitchFamily="34" charset="0"/>
              <a:buChar char="•"/>
            </a:pPr>
            <a:r>
              <a:rPr sz="1450"/>
              <a:t>Everything runs in one browser page. No terminal. The server keeps the model loaded and searches return in 25-65 ms.</a:t>
            </a:r>
            <a:endParaRPr sz="1450"/>
          </a:p>
          <a:p>
            <a:pPr marL="228600" indent="-190500" algn="l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 pitchFamily="34" charset="0"/>
              <a:buChar char="•"/>
            </a:pPr>
            <a:r>
              <a:rPr sz="1450"/>
              <a:t>Index any source: a folder on disk, a zip upload, or N commits of a git repository.</a:t>
            </a:r>
            <a:endParaRPr sz="1450"/>
          </a:p>
          <a:p>
            <a:pPr marL="228600" indent="-190500" algn="l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 pitchFamily="34" charset="0"/>
              <a:buChar char="•"/>
            </a:pPr>
            <a:r>
              <a:rPr sz="1450"/>
              <a:t>P0: paste a programming problem against the 8,765-solution benchmark corpus and the correct solution comes back first.</a:t>
            </a:r>
            <a:endParaRPr sz="1450"/>
          </a:p>
          <a:p>
            <a:pPr marL="228600" indent="-190500" algn="l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 pitchFamily="34" charset="0"/>
              <a:buChar char="•"/>
            </a:pPr>
            <a:r>
              <a:rPr sz="1450"/>
              <a:t>Generality: the same engine on the requests library, 120 files. "how do I configure retries" returns adapters.py, with the snippet opening on max_retries.</a:t>
            </a:r>
            <a:endParaRPr sz="1450"/>
          </a:p>
          <a:p>
            <a:pPr marL="228600" indent="-190500" algn="l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 pitchFamily="34" charset="0"/>
              <a:buChar char="•"/>
            </a:pPr>
            <a:r>
              <a:rPr sz="1450"/>
              <a:t>P1: edit a file and the result is flagged stale instead of shown wrong. One click re-indexes only the file that changed.</a:t>
            </a:r>
            <a:endParaRPr sz="1450"/>
          </a:p>
          <a:p>
            <a:pPr marL="228600" indent="-190500" algn="l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 pitchFamily="34" charset="0"/>
              <a:buChar char="•"/>
            </a:pPr>
            <a:r>
              <a:rPr sz="1450"/>
              <a:t>Bonus: six releases of requests in one index. Each result is one file and shows which versions hold the matching code.</a:t>
            </a:r>
            <a:endParaRPr sz="1450"/>
          </a:p>
          <a:p>
            <a:pPr marL="228600" indent="-190500" algn="l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 pitchFamily="34" charset="0"/>
              <a:buChar char="•"/>
            </a:pPr>
            <a:r>
              <a:rPr sz="1450"/>
              <a:t>Demo video: https://drive.google.com/file/d/1Q7Fo2h1sU-zAU98qJM5UCKXENwmgg-t8/view?usp=sharing</a:t>
            </a:r>
            <a:endParaRPr sz="145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 panose="020F0502020204030204"/>
              <a:buNone/>
            </a:pPr>
            <a:r>
              <a:rPr lang="en-US" sz="4400" b="1">
                <a:solidFill>
                  <a:srgbClr val="704EA6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Tools and tech stack used</a:t>
            </a:r>
            <a:endParaRPr b="1">
              <a:solidFill>
                <a:srgbClr val="704EA6"/>
              </a:solidFill>
            </a:endParaRPr>
          </a:p>
        </p:txBody>
      </p:sp>
      <p:sp>
        <p:nvSpPr>
          <p:cNvPr id="126" name="Google Shape;126;p6"/>
          <p:cNvSpPr txBox="1"/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indent="-190500" algn="l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 pitchFamily="34" charset="0"/>
              <a:buChar char="•"/>
            </a:pPr>
            <a:r>
              <a:rPr sz="1550"/>
              <a:t>Model: Alibaba-NLP/gte-modernbert-base, 768 dimensions, CLS pooling. Chosen after measuring three candidates.</a:t>
            </a:r>
            <a:endParaRPr sz="1550"/>
          </a:p>
          <a:p>
            <a:pPr marL="228600" indent="-190500" algn="l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 pitchFamily="34" charset="0"/>
              <a:buChar char="•"/>
            </a:pPr>
            <a:r>
              <a:rPr sz="1550"/>
              <a:t>Runtime: fp32 ONNX through onnxruntime, CPU only. 78 minutes against 97 for PyTorch on a full pass, with identical accuracy.</a:t>
            </a:r>
            <a:endParaRPr sz="1550"/>
          </a:p>
          <a:p>
            <a:pPr marL="228600" indent="-190500" algn="l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 pitchFamily="34" charset="0"/>
              <a:buChar char="•"/>
            </a:pPr>
            <a:r>
              <a:rPr sz="1550"/>
              <a:t>Maths: NumPy. Cosine similarity over normalised vectors is one matrix multiply.</a:t>
            </a:r>
            <a:endParaRPr sz="1550"/>
          </a:p>
          <a:p>
            <a:pPr marL="228600" indent="-190500" algn="l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 pitchFamily="34" charset="0"/>
              <a:buChar char="•"/>
            </a:pPr>
            <a:r>
              <a:rPr sz="1550"/>
              <a:t>Chunking: line-aligned windows under 1,024 tokens with a path, class and function header. Optional AST chunking for Python.</a:t>
            </a:r>
            <a:endParaRPr sz="1550"/>
          </a:p>
          <a:p>
            <a:pPr marL="228600" indent="-190500" algn="l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 pitchFamily="34" charset="0"/>
              <a:buChar char="•"/>
            </a:pPr>
            <a:r>
              <a:rPr sz="1550"/>
              <a:t>Storage: .npy embedding matrix, JSONL chunk table, JSON manifest. Atomic writes, checksummed. No database.</a:t>
            </a:r>
            <a:endParaRPr sz="1550"/>
          </a:p>
          <a:p>
            <a:pPr marL="228600" indent="-190500" algn="l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 pitchFamily="34" charset="0"/>
              <a:buChar char="•"/>
            </a:pPr>
            <a:r>
              <a:rPr sz="1550"/>
              <a:t>Web: FastAPI with plain HTML, CSS and JavaScript. No framework, no build step.</a:t>
            </a:r>
            <a:endParaRPr sz="1550"/>
          </a:p>
          <a:p>
            <a:pPr marL="228600" indent="-190500" algn="l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 pitchFamily="34" charset="0"/>
              <a:buChar char="•"/>
            </a:pPr>
            <a:r>
              <a:rPr sz="1550"/>
              <a:t>Evaluation: MTEB 2.21.8, as the problem statement specifies. Metrics also reimplemented and checked against pytrec_eval.</a:t>
            </a:r>
            <a:endParaRPr sz="1550"/>
          </a:p>
          <a:p>
            <a:pPr marL="228600" indent="-190500" algn="l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 pitchFamily="34" charset="0"/>
              <a:buChar char="•"/>
            </a:pPr>
            <a:r>
              <a:rPr sz="1550"/>
              <a:t>Packaging: Docker, plus GitHub Actions that builds and runs the system on every push.</a:t>
            </a:r>
            <a:endParaRPr sz="155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 panose="020F0502020204030204"/>
              <a:buNone/>
            </a:pPr>
            <a:r>
              <a:rPr lang="en-US" sz="4400" b="1">
                <a:solidFill>
                  <a:srgbClr val="704EA6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Impact &amp; Use case</a:t>
            </a:r>
            <a:endParaRPr b="1">
              <a:solidFill>
                <a:srgbClr val="704EA6"/>
              </a:solidFill>
            </a:endParaRPr>
          </a:p>
        </p:txBody>
      </p:sp>
      <p:sp>
        <p:nvSpPr>
          <p:cNvPr id="132" name="Google Shape;132;p7"/>
          <p:cNvSpPr txBox="1"/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indent="-190500" algn="l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 pitchFamily="34" charset="0"/>
              <a:buChar char="•"/>
            </a:pPr>
            <a:r>
              <a:rPr sz="1600"/>
              <a:t>Onboarding: find the code that does X without knowing what it is called.</a:t>
            </a:r>
            <a:endParaRPr sz="1600"/>
          </a:p>
          <a:p>
            <a:pPr marL="228600" indent="-190500" algn="l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 pitchFamily="34" charset="0"/>
              <a:buChar char="•"/>
            </a:pPr>
            <a:r>
              <a:rPr sz="1600"/>
              <a:t>Bug fixing and feature work: go straight to the right block instead of reading directory trees.</a:t>
            </a:r>
            <a:endParaRPr sz="1600"/>
          </a:p>
          <a:p>
            <a:pPr marL="228600" indent="-190500" algn="l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 pitchFamily="34" charset="0"/>
              <a:buChar char="•"/>
            </a:pPr>
            <a:r>
              <a:rPr sz="1600"/>
              <a:t>First stage of a RAG pipeline. Hands an LLM only the snippets it needs, which is the role the problem statement describes.</a:t>
            </a:r>
            <a:endParaRPr sz="1600"/>
          </a:p>
          <a:p>
            <a:pPr marL="228600" indent="-190500" algn="l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 pitchFamily="34" charset="0"/>
              <a:buChar char="•"/>
            </a:pPr>
            <a:r>
              <a:rPr sz="1600"/>
              <a:t>Code archaeology: which release introduced this behaviour. The versioned index answers it directly.</a:t>
            </a:r>
            <a:endParaRPr sz="1600"/>
          </a:p>
          <a:p>
            <a:pPr marL="228600" indent="-190500" algn="l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 pitchFamily="34" charset="0"/>
              <a:buChar char="•"/>
            </a:pPr>
            <a:r>
              <a:rPr sz="1600"/>
              <a:t>CPU only, so a laptop or a cheap VM is enough. No GPU budget, no external API, nothing leaves the machine.</a:t>
            </a:r>
            <a:endParaRPr sz="1600"/>
          </a:p>
          <a:p>
            <a:pPr marL="228600" indent="-190500" algn="l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 pitchFamily="34" charset="0"/>
              <a:buChar char="•"/>
            </a:pPr>
            <a:r>
              <a:rPr sz="1600"/>
              <a:t>Indexing cost grows with the codebase. Query cost does not: 8,765 documents still answer in milliseconds.</a:t>
            </a:r>
            <a:endParaRPr sz="16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8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 panose="020F0502020204030204"/>
              <a:buNone/>
            </a:pPr>
            <a:r>
              <a:rPr lang="en-US" sz="4400" b="1">
                <a:solidFill>
                  <a:srgbClr val="704EA6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Innovation highlights, results and limitations</a:t>
            </a:r>
            <a:endParaRPr sz="4400" b="1">
              <a:solidFill>
                <a:srgbClr val="704EA6"/>
              </a:solidFill>
            </a:endParaRPr>
          </a:p>
        </p:txBody>
      </p:sp>
      <p:sp>
        <p:nvSpPr>
          <p:cNvPr id="138" name="Google Shape;138;p8"/>
          <p:cNvSpPr txBox="1"/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indent="-1905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 pitchFamily="34" charset="0"/>
              <a:buChar char="•"/>
            </a:pPr>
            <a:r>
              <a:rPr sz="1450"/>
              <a:t>Results on CoIR AppsRetrieval, 3,765 queries against 8,765 solutions, CPU only:</a:t>
            </a:r>
            <a:endParaRPr sz="1450"/>
          </a:p>
          <a:p>
            <a:pPr marL="457200" lvl="1" indent="-1905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 pitchFamily="34" charset="0"/>
              <a:buChar char="–"/>
            </a:pPr>
            <a:r>
              <a:rPr sz="1300"/>
              <a:t>NDCG@10 0.57545, MRR@10 0.52798, Recall@10 0.727, against a baseline of 0.0660 and 0.0558</a:t>
            </a:r>
            <a:endParaRPr sz="1300"/>
          </a:p>
          <a:p>
            <a:pPr marL="457200" lvl="1" indent="-1905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 pitchFamily="34" charset="0"/>
              <a:buChar char="–"/>
            </a:pPr>
            <a:r>
              <a:rPr sz="1300"/>
              <a:t>Our own pipeline reproduces the MTEB score exactly, so it can be checked rather than taken on trust</a:t>
            </a:r>
            <a:endParaRPr sz="1300"/>
          </a:p>
          <a:p>
            <a:pPr marL="228600" indent="-1905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 pitchFamily="34" charset="0"/>
              <a:buChar char="•"/>
            </a:pPr>
            <a:r>
              <a:rPr sz="1450"/>
              <a:t>What worked:</a:t>
            </a:r>
            <a:endParaRPr sz="1450"/>
          </a:p>
          <a:p>
            <a:pPr marL="457200" lvl="1" indent="-1905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 pitchFamily="34" charset="0"/>
              <a:buChar char="–"/>
            </a:pPr>
            <a:r>
              <a:rPr sz="1300"/>
              <a:t>Context headers. Every chunk carries its file path and enclosing class or function, so a file named depth.py holds the concept even when the code never says it</a:t>
            </a:r>
            <a:endParaRPr sz="1300"/>
          </a:p>
          <a:p>
            <a:pPr marL="457200" lvl="1" indent="-1905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 pitchFamily="34" charset="0"/>
              <a:buChar char="–"/>
            </a:pPr>
            <a:r>
              <a:rPr sz="1300"/>
              <a:t>File-kind ranking. Docs and tests are prose, like questions, so they outranked real implementations. Down-weighting them moved top-1 from 5/10 to 8/10</a:t>
            </a:r>
            <a:endParaRPr sz="1300"/>
          </a:p>
          <a:p>
            <a:pPr marL="457200" lvl="1" indent="-1905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 pitchFamily="34" charset="0"/>
              <a:buChar char="–"/>
            </a:pPr>
            <a:r>
              <a:rPr sz="1300"/>
              <a:t>Fingerprints. The index knows when it is out of date and says so</a:t>
            </a:r>
            <a:endParaRPr sz="1300"/>
          </a:p>
          <a:p>
            <a:pPr marL="228600" indent="-1905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 pitchFamily="34" charset="0"/>
              <a:buChar char="•"/>
            </a:pPr>
            <a:r>
              <a:rPr sz="1450"/>
              <a:t>Limitations:</a:t>
            </a:r>
            <a:endParaRPr sz="1450"/>
          </a:p>
          <a:p>
            <a:pPr marL="457200" lvl="1" indent="-1905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 pitchFamily="34" charset="0"/>
              <a:buChar char="–"/>
            </a:pPr>
            <a:r>
              <a:rPr sz="1300"/>
              <a:t>0.575 is an AppsRetrieval number and does not transfer unchanged to other codebases</a:t>
            </a:r>
            <a:endParaRPr sz="1300"/>
          </a:p>
          <a:p>
            <a:pPr marL="457200" lvl="1" indent="-1905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 pitchFamily="34" charset="0"/>
              <a:buChar char="–"/>
            </a:pPr>
            <a:r>
              <a:rPr sz="1300"/>
              <a:t>8/10 is optimistic. The penalty was chosen after seeing those ten questions, and ten is a small sample</a:t>
            </a:r>
            <a:endParaRPr sz="1300"/>
          </a:p>
          <a:p>
            <a:pPr marL="457200" lvl="1" indent="-1905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 pitchFamily="34" charset="0"/>
              <a:buChar char="–"/>
            </a:pPr>
            <a:r>
              <a:rPr sz="1300"/>
              <a:t>A first index of a large repo is slow: 43 minutes for 654 files. Re-indexing a change is seconds</a:t>
            </a:r>
            <a:endParaRPr sz="13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9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 panose="020F0502020204030204"/>
              <a:buNone/>
            </a:pPr>
            <a:r>
              <a:rPr lang="en-US" sz="4400" b="1">
                <a:solidFill>
                  <a:srgbClr val="704EA6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What’s next</a:t>
            </a:r>
            <a:endParaRPr sz="4400" b="1">
              <a:solidFill>
                <a:srgbClr val="704EA6"/>
              </a:solidFill>
            </a:endParaRPr>
          </a:p>
        </p:txBody>
      </p:sp>
      <p:sp>
        <p:nvSpPr>
          <p:cNvPr id="144" name="Google Shape;144;p9"/>
          <p:cNvSpPr txBox="1"/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indent="-190500" algn="l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 pitchFamily="34" charset="0"/>
              <a:buChar char="•"/>
            </a:pPr>
            <a:r>
              <a:rPr sz="1600"/>
              <a:t>Hybrid retrieval. Blend BM25 keyword scores with embedding scores. Embeddings are weak on exact terms like gzip or timeout, so this is the cheapest win left.</a:t>
            </a:r>
            <a:endParaRPr sz="1600"/>
          </a:p>
          <a:p>
            <a:pPr marL="228600" indent="-190500" algn="l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 pitchFamily="34" charset="0"/>
              <a:buChar char="•"/>
            </a:pPr>
            <a:r>
              <a:rPr sz="1600"/>
              <a:t>Query preprocessing. Expand the question before searching. "Too many links deep" never meets "depth"; rephrased by hand, the right file goes from rank 126 to rank 3.</a:t>
            </a:r>
            <a:endParaRPr sz="1600"/>
          </a:p>
          <a:p>
            <a:pPr marL="228600" indent="-190500" algn="l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 pitchFamily="34" charset="0"/>
              <a:buChar char="•"/>
            </a:pPr>
            <a:r>
              <a:rPr sz="1600"/>
              <a:t>tree-sitter, so AST chunking works beyond Python.</a:t>
            </a:r>
            <a:endParaRPr sz="1600"/>
          </a:p>
          <a:p>
            <a:pPr marL="228600" indent="-190500" algn="l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 pitchFamily="34" charset="0"/>
              <a:buChar char="•"/>
            </a:pPr>
            <a:r>
              <a:rPr sz="1600"/>
              <a:t>Faster first index. The main weakness now. Smaller structure-aware chunks and parallel embedding should cut the 43 minutes.</a:t>
            </a:r>
            <a:endParaRPr sz="1600"/>
          </a:p>
          <a:p>
            <a:pPr marL="228600" indent="-190500" algn="l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 pitchFamily="34" charset="0"/>
              <a:buChar char="•"/>
            </a:pPr>
            <a:r>
              <a:rPr sz="1600"/>
              <a:t>More labelled questions. Ten per repository catches large effects, not small ones.</a:t>
            </a:r>
            <a:endParaRPr sz="160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 panose="020F0502020204030204"/>
              <a:buNone/>
            </a:pPr>
            <a:r>
              <a:rPr lang="en-US" sz="4400" b="1">
                <a:solidFill>
                  <a:srgbClr val="704EA6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Brownie points slide( differentiation)</a:t>
            </a:r>
            <a:endParaRPr sz="4400" b="1">
              <a:solidFill>
                <a:srgbClr val="704EA6"/>
              </a:solidFill>
            </a:endParaRPr>
          </a:p>
        </p:txBody>
      </p:sp>
      <p:sp>
        <p:nvSpPr>
          <p:cNvPr id="150" name="Google Shape;150;p10"/>
          <p:cNvSpPr txBox="1"/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indent="-19050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 pitchFamily="34" charset="0"/>
              <a:buChar char="•"/>
            </a:pPr>
            <a:r>
              <a:rPr sz="1450"/>
              <a:t>Three improvements were built, measured and rejected: cross-encoder re-ranking (0.621 against a 0.674 baseline), pseudo-relevance feedback (0.57536 against 0.57545) and AST chunking (a tie). Reports and raw numbers are in the repo.</a:t>
            </a:r>
            <a:endParaRPr sz="1450"/>
          </a:p>
          <a:p>
            <a:pPr marL="228600" indent="-19050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 pitchFamily="34" charset="0"/>
              <a:buChar char="•"/>
            </a:pPr>
            <a:r>
              <a:rPr sz="1450"/>
              <a:t>For every real-codebase test the correct answers were written down and committed before any search ran, so grading could not drift generous.</a:t>
            </a:r>
            <a:endParaRPr sz="1450"/>
          </a:p>
          <a:p>
            <a:pPr marL="228600" indent="-19050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 pitchFamily="34" charset="0"/>
              <a:buChar char="•"/>
            </a:pPr>
            <a:r>
              <a:rPr sz="1450"/>
              <a:t>Tests caught three bugs that would have produced wrong results with no error: fp16 weights loading on CPU, MTEB's whitespace handling (3,687 of 8,765 documents differed) and line-ending conversion breaking an index checksum.</a:t>
            </a:r>
            <a:endParaRPr sz="1450"/>
          </a:p>
          <a:p>
            <a:pPr marL="228600" indent="-19050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 pitchFamily="34" charset="0"/>
              <a:buChar char="•"/>
            </a:pPr>
            <a:r>
              <a:rPr sz="1450"/>
              <a:t>GitHub Actions builds the Docker image and runs the whole system offline on every push, evaluation included.</a:t>
            </a:r>
            <a:endParaRPr sz="1450"/>
          </a:p>
          <a:p>
            <a:pPr marL="228600" indent="-19050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 pitchFamily="34" charset="0"/>
              <a:buChar char="•"/>
            </a:pPr>
            <a:r>
              <a:rPr sz="1450"/>
              <a:t>The brief assumed multi-pass retrieval would be needed. We tested it, measured that it hurt on this task, and wrote down why.</a:t>
            </a:r>
            <a:endParaRPr sz="1450"/>
          </a:p>
          <a:p>
            <a:pPr marL="228600" indent="-19050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 pitchFamily="34" charset="0"/>
              <a:buChar char="•"/>
            </a:pPr>
            <a:r>
              <a:rPr sz="1450"/>
              <a:t>P0, P1 and the bonus are all delivered, each with a report and raw data in the repo.</a:t>
            </a:r>
            <a:endParaRPr sz="145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1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 panose="020F0502020204030204"/>
              <a:buNone/>
            </a:pPr>
            <a:r>
              <a:rPr lang="en-US" b="1">
                <a:solidFill>
                  <a:srgbClr val="704EA6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Checklist- Updated on Public GitHub</a:t>
            </a:r>
            <a:endParaRPr lang="en-US" b="1">
              <a:solidFill>
                <a:srgbClr val="704EA6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56" name="Google Shape;156;p11"/>
          <p:cNvSpPr txBox="1"/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indent="-19050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63637E"/>
              </a:buClr>
              <a:buSzPts val="2800"/>
              <a:buFont typeface="Arial" panose="020B0604020202020204" pitchFamily="34" charset="0"/>
              <a:buChar char="•"/>
            </a:pPr>
            <a:r>
              <a:rPr lang="en-US" sz="1600">
                <a:solidFill>
                  <a:srgbClr val="63637E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Working prototype code — public or shared GitHub repo (Y/N): Y, github.com/Vishrut-10-Goel/Sam</a:t>
            </a:r>
            <a:endParaRPr sz="2800"/>
          </a:p>
          <a:p>
            <a:pPr marL="228600" indent="-19050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63637E"/>
              </a:buClr>
              <a:buSzPts val="2800"/>
              <a:buFont typeface="Arial" panose="020B0604020202020204" pitchFamily="34" charset="0"/>
              <a:buChar char="•"/>
            </a:pPr>
            <a:r>
              <a:rPr lang="en-US" sz="1600">
                <a:solidFill>
                  <a:srgbClr val="63637E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README with reproducible setup instructions (Y/N): Y</a:t>
            </a:r>
            <a:endParaRPr sz="2800"/>
          </a:p>
          <a:p>
            <a:pPr marL="228600" indent="-19050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63637E"/>
              </a:buClr>
              <a:buSzPts val="2800"/>
              <a:buFont typeface="Arial" panose="020B0604020202020204" pitchFamily="34" charset="0"/>
              <a:buChar char="•"/>
            </a:pPr>
            <a:r>
              <a:rPr lang="en-US" sz="1600">
                <a:solidFill>
                  <a:srgbClr val="63637E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Demo video, max 5 minutes (YouTube or Drive link): https://drive.google.com/file/d/1Q7Fo2h1sU-zAU98qJM5UCKXENwmgg-t8/view?usp=sharing</a:t>
            </a:r>
            <a:endParaRPr sz="2800"/>
          </a:p>
          <a:p>
            <a:pPr marL="228600" indent="-19050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63637E"/>
              </a:buClr>
              <a:buSzPts val="2800"/>
              <a:buFont typeface="Arial" panose="020B0604020202020204" pitchFamily="34" charset="0"/>
              <a:buChar char="•"/>
            </a:pPr>
            <a:r>
              <a:rPr lang="en-US" sz="1600">
                <a:solidFill>
                  <a:srgbClr val="63637E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Presentation file (PPT or PDF) (Y/N): Y</a:t>
            </a:r>
            <a:endParaRPr sz="28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12"/>
          <p:cNvSpPr txBox="1"/>
          <p:nvPr/>
        </p:nvSpPr>
        <p:spPr>
          <a:xfrm>
            <a:off x="1046181" y="3730214"/>
            <a:ext cx="6766560" cy="868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4142B"/>
              </a:buClr>
              <a:buSzPts val="4600"/>
              <a:buFont typeface="Arial" panose="020B0604020202020204"/>
              <a:buNone/>
            </a:pPr>
            <a:r>
              <a:rPr lang="en-US" sz="4600" b="1" i="0" u="none" strike="noStrike" cap="none">
                <a:solidFill>
                  <a:srgbClr val="14142B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Thank you</a:t>
            </a:r>
            <a:endParaRPr sz="46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63" name="Google Shape;163;p12"/>
          <p:cNvSpPr txBox="1"/>
          <p:nvPr/>
        </p:nvSpPr>
        <p:spPr>
          <a:xfrm>
            <a:off x="777240" y="5897880"/>
            <a:ext cx="10607040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3637E"/>
              </a:buClr>
              <a:buSzPts val="1100"/>
              <a:buFont typeface="Calibri" panose="020F0502020204030204"/>
              <a:buNone/>
            </a:pPr>
            <a:r>
              <a:rPr lang="en-US" sz="1100" b="0" i="0" u="none" strike="noStrike" cap="none">
                <a:solidFill>
                  <a:srgbClr val="63637E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Organised by the Language AI Team and the PRISM Team, Samsung R&amp;D Institute India</a:t>
            </a:r>
            <a:endParaRPr sz="11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7105</Words>
  <Application>WPS Presentation</Application>
  <PresentationFormat/>
  <Paragraphs>112</Paragraphs>
  <Slides>12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12</vt:i4>
      </vt:variant>
    </vt:vector>
  </HeadingPairs>
  <TitlesOfParts>
    <vt:vector size="20" baseType="lpstr">
      <vt:lpstr>Arial</vt:lpstr>
      <vt:lpstr>SimSun</vt:lpstr>
      <vt:lpstr>Wingdings</vt:lpstr>
      <vt:lpstr>Arial</vt:lpstr>
      <vt:lpstr>Calibri</vt:lpstr>
      <vt:lpstr>Microsoft YaHei</vt:lpstr>
      <vt:lpstr>Arial Unicode MS</vt:lpstr>
      <vt:lpstr>Office Theme</vt:lpstr>
      <vt:lpstr>PowerPoint 演示文稿</vt:lpstr>
      <vt:lpstr>Theme</vt:lpstr>
      <vt:lpstr>Existing Solutions &amp; Gaps</vt:lpstr>
      <vt:lpstr>Our Solutions &amp; Architecture Diagram</vt:lpstr>
      <vt:lpstr>Demo &amp; Product Walkthrough</vt:lpstr>
      <vt:lpstr>Tools and tech stack used</vt:lpstr>
      <vt:lpstr>Impact &amp; Use case</vt:lpstr>
      <vt:lpstr>Innovation highlights, results and limitations</vt:lpstr>
      <vt:lpstr>What’s next</vt:lpstr>
      <vt:lpstr>Brownie points slide( differentiation)</vt:lpstr>
      <vt:lpstr>Checklist- Updated on Public GitHub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Binny Lakra/PRISM /SRI-Bangalore/Professional/Samsung Electronics</dc:creator>
  <cp:lastModifiedBy>Vishrut Goel</cp:lastModifiedBy>
  <cp:revision>2</cp:revision>
  <dcterms:created xsi:type="dcterms:W3CDTF">2026-09-30T17:40:00Z</dcterms:created>
  <dcterms:modified xsi:type="dcterms:W3CDTF">2026-09-30T17:57:34Z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SCPROP">
    <vt:lpwstr>NSCCustomProperty</vt:lpwstr>
  </property>
  <property fmtid="{D5CDD505-2E9C-101B-9397-08002B2CF9AE}" pid="3" name="ICV">
    <vt:lpwstr>11AE9BC105714C2EAD9A7F113D287B14_12</vt:lpwstr>
  </property>
  <property fmtid="{D5CDD505-2E9C-101B-9397-08002B2CF9AE}" pid="4" name="KSOProductBuildVer">
    <vt:lpwstr>2057-12.2.0.23206</vt:lpwstr>
  </property>
</Properties>
</file>